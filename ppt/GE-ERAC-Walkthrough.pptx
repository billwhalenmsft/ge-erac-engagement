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RAC_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· Solution Engineering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 Verisk · ERAC — Confidential</a:t>
            </a:r>
            <a:endParaRPr lang="en-US" sz="8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777240" cy="777240"/>
          </a:xfrm>
          <a:prstGeom prst="ellipse">
            <a:avLst/>
          </a:prstGeom>
          <a:ln w="254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572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219456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ERAC Lite CRM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457200" y="320040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9D6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trusted model for your LTC reinsurance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40233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Leadership Walkthrough</a:t>
            </a:r>
            <a:pPr indent="0" marL="0">
              <a:buNone/>
            </a:pPr>
            <a:r>
              <a:rPr lang="en-US" sz="1400" dirty="0">
                <a:solidFill>
                  <a:srgbClr val="9FB4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·   Built on your feedback   ·   June 2026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4846320"/>
            <a:ext cx="2926080" cy="54864"/>
          </a:xfrm>
          <a:prstGeom prst="rect">
            <a:avLst/>
          </a:prstGeom>
          <a:solidFill>
            <a:srgbClr val="0078D4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your team uses it — in five acts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09728" cy="841248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371600"/>
            <a:ext cx="310896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· Orient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3931920" y="1371600"/>
            <a:ext cx="768096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model: Legal Entity → TPA → Cedent, and who works with whom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22960" y="2286000"/>
            <a:ext cx="10789920" cy="0"/>
          </a:xfrm>
          <a:prstGeom prst="line">
            <a:avLst/>
          </a:prstGeom>
          <a:noFill/>
          <a:ln w="12700">
            <a:solidFill>
              <a:srgbClr val="E1DFD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359152"/>
            <a:ext cx="109728" cy="841248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359152"/>
            <a:ext cx="310896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· Work a record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931920" y="2359152"/>
            <a:ext cx="768096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a partner: 360 card, timeline, contacts, and the Account Map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22960" y="3273552"/>
            <a:ext cx="10789920" cy="0"/>
          </a:xfrm>
          <a:prstGeom prst="line">
            <a:avLst/>
          </a:prstGeom>
          <a:noFill/>
          <a:ln w="12700">
            <a:solidFill>
              <a:srgbClr val="E1DFD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3346704"/>
            <a:ext cx="109728" cy="841248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3346704"/>
            <a:ext cx="310896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· The data model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931920" y="3346704"/>
            <a:ext cx="768096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Treaties, reserve adequacy, partnership ratings, risk, disputes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2960" y="4261104"/>
            <a:ext cx="10789920" cy="0"/>
          </a:xfrm>
          <a:prstGeom prst="line">
            <a:avLst/>
          </a:prstGeom>
          <a:noFill/>
          <a:ln w="12700">
            <a:solidFill>
              <a:srgbClr val="E1DFD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4334256"/>
            <a:ext cx="109728" cy="841248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334256"/>
            <a:ext cx="310896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· Work &amp; strategy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3931920" y="4334256"/>
            <a:ext cx="768096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Projects &amp; Strategy plan + the Strategy agent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22960" y="5248656"/>
            <a:ext cx="10789920" cy="0"/>
          </a:xfrm>
          <a:prstGeom prst="line">
            <a:avLst/>
          </a:prstGeom>
          <a:noFill/>
          <a:ln w="12700">
            <a:solidFill>
              <a:srgbClr val="E1DFD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5321808"/>
            <a:ext cx="109728" cy="841248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5321808"/>
            <a:ext cx="310896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· Analytics &amp; integration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3931920" y="5321808"/>
            <a:ext cx="768096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Portfolio Analytics, Know Your Policyholder, Partnership/Risk, link-outs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1 · Orient  ·  Scene 1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9966960" y="292608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DFF6DD"/>
          </a:solidFill>
          <a:ln/>
        </p:spPr>
      </p:sp>
      <p:sp>
        <p:nvSpPr>
          <p:cNvPr id="4" name="Text 2"/>
          <p:cNvSpPr/>
          <p:nvPr/>
        </p:nvSpPr>
        <p:spPr>
          <a:xfrm>
            <a:off x="9966960" y="292608"/>
            <a:ext cx="1783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Short Cut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566928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Frame the problem &amp; the model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457200" y="1207008"/>
            <a:ext cx="11247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6E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 </a:t>
            </a:r>
            <a:pPr indent="0" marL="0">
              <a:buNone/>
            </a:pPr>
            <a:r>
              <a:rPr lang="en-US" sz="120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Cedents &amp; Contacts → Relationship Map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6858000" cy="4480560"/>
          </a:xfrm>
          <a:prstGeom prst="rect">
            <a:avLst/>
          </a:prstGeom>
          <a:solidFill>
            <a:srgbClr val="F5F7FA"/>
          </a:solidFill>
          <a:ln w="19050">
            <a:solidFill>
              <a:srgbClr val="E1DFDD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457200" y="347472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📷  Screenshot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977640"/>
            <a:ext cx="6309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Cedents &amp; Contacts → Relationship Map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5760720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Paste the live screen capture here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635240" y="169164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SAY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635240" y="1965960"/>
            <a:ext cx="73152" cy="155448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3" name="Text 11"/>
          <p:cNvSpPr/>
          <p:nvPr/>
        </p:nvSpPr>
        <p:spPr>
          <a:xfrm>
            <a:off x="7836408" y="1965960"/>
            <a:ext cx="3913632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“ERAC is your LTC reinsurance business. You contract with carriers who cede risk to you, and TPAs administer those blocks. Today that map lives in spreadsheets — here it is as one picture.”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635240" y="365760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AT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635240" y="3931920"/>
            <a:ext cx="41148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Cedent / TPA / Hybrid framing cards</a:t>
            </a:r>
            <a:endParaRPr lang="en-US" sz="11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 Legal Entity → TPA → Cedent structure</a:t>
            </a:r>
            <a:endParaRPr lang="en-US" sz="11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cedents · 4 TPAs · 1 hybrid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1 · Orient  ·  Scene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matrix — who works with whom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1207008"/>
            <a:ext cx="11247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6E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 </a:t>
            </a:r>
            <a:pPr indent="0" marL="0">
              <a:buNone/>
            </a:pPr>
            <a:r>
              <a:rPr lang="en-US" sz="120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Relationship Map → Coverage Matrix → filter ERAC / Illumifin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6858000" cy="4480560"/>
          </a:xfrm>
          <a:prstGeom prst="rect">
            <a:avLst/>
          </a:prstGeom>
          <a:solidFill>
            <a:srgbClr val="F5F7FA"/>
          </a:solidFill>
          <a:ln w="19050">
            <a:solidFill>
              <a:srgbClr val="E1DFDD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457200" y="347472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📷  Screenshot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3977640"/>
            <a:ext cx="6309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Relationship Map → Coverage Matrix → filter ERAC / Illumifin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5760720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Paste the live screen capture here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635240" y="169164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635240" y="1965960"/>
            <a:ext cx="73152" cy="155448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1" name="Text 9"/>
          <p:cNvSpPr/>
          <p:nvPr/>
        </p:nvSpPr>
        <p:spPr>
          <a:xfrm>
            <a:off x="7836408" y="1965960"/>
            <a:ext cx="3913632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“I’ll filter to ERAC’s Illumifin-administered carriers. Now I see function coverage — claims, actuarial, finance — each contact’s capacity, and the systems they touch.”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7635240" y="365760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AT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635240" y="3931920"/>
            <a:ext cx="41148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Function coverage + capacity per partner</a:t>
            </a:r>
            <a:endParaRPr lang="en-US" sz="11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Linked systems per relationship</a:t>
            </a:r>
            <a:endParaRPr lang="en-US" sz="11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Filters live — not a static picture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2 · Work a record  ·  Scene 3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9966960" y="292608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DFF6DD"/>
          </a:solidFill>
          <a:ln/>
        </p:spPr>
      </p:sp>
      <p:sp>
        <p:nvSpPr>
          <p:cNvPr id="4" name="Text 2"/>
          <p:cNvSpPr/>
          <p:nvPr/>
        </p:nvSpPr>
        <p:spPr>
          <a:xfrm>
            <a:off x="9966960" y="292608"/>
            <a:ext cx="1783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Short Cut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566928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a partner — record + timeline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457200" y="1207008"/>
            <a:ext cx="11247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6E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 </a:t>
            </a:r>
            <a:pPr indent="0" marL="0">
              <a:buNone/>
            </a:pPr>
            <a:r>
              <a:rPr lang="en-US" sz="120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Partner Views → Cedents → Allianz → Summary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6858000" cy="4480560"/>
          </a:xfrm>
          <a:prstGeom prst="rect">
            <a:avLst/>
          </a:prstGeom>
          <a:solidFill>
            <a:srgbClr val="F5F7FA"/>
          </a:solidFill>
          <a:ln w="19050">
            <a:solidFill>
              <a:srgbClr val="E1DFDD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457200" y="347472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📷  Screenshot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977640"/>
            <a:ext cx="6309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Partner Views → Cedents → Allianz → Summary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5760720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Paste the live screen capture here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635240" y="169164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SAY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635240" y="1965960"/>
            <a:ext cx="73152" cy="155448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3" name="Text 11"/>
          <p:cNvSpPr/>
          <p:nvPr/>
        </p:nvSpPr>
        <p:spPr>
          <a:xfrm>
            <a:off x="7836408" y="1965960"/>
            <a:ext cx="3913632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“This is the heart of the app — one carrier record. The 360 card, volume metrics, and the real history: calls, emails, meetings, notes. Nobody digs through Outlook to know where we stand.”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635240" y="365760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AT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635240" y="3931920"/>
            <a:ext cx="41148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Cedent 360 card + volume metrics</a:t>
            </a:r>
            <a:endParaRPr lang="en-US" sz="11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Hydrated activity timeline</a:t>
            </a:r>
            <a:endParaRPr lang="en-US" sz="11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Named contacts with a primary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2 · Work a record  ·  Scene 4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9966960" y="292608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DFF6DD"/>
          </a:solidFill>
          <a:ln/>
        </p:spPr>
      </p:sp>
      <p:sp>
        <p:nvSpPr>
          <p:cNvPr id="4" name="Text 2"/>
          <p:cNvSpPr/>
          <p:nvPr/>
        </p:nvSpPr>
        <p:spPr>
          <a:xfrm>
            <a:off x="9966960" y="292608"/>
            <a:ext cx="1783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Short Cut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566928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Account Map &amp; Plan — who at ERAC owns it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457200" y="1207008"/>
            <a:ext cx="11247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6E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 </a:t>
            </a:r>
            <a:pPr indent="0" marL="0">
              <a:buNone/>
            </a:pPr>
            <a:r>
              <a:rPr lang="en-US" sz="120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Cedents &amp; Contacts → Account Map  (or the account form tab)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6858000" cy="4480560"/>
          </a:xfrm>
          <a:prstGeom prst="rect">
            <a:avLst/>
          </a:prstGeom>
          <a:solidFill>
            <a:srgbClr val="F5F7FA"/>
          </a:solidFill>
          <a:ln w="19050">
            <a:solidFill>
              <a:srgbClr val="E1DFDD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457200" y="347472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📷  Screenshot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977640"/>
            <a:ext cx="6309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Cedents &amp; Contacts → Account Map  (or the account form tab)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5760720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Paste the live screen capture here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635240" y="169164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SAY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635240" y="1965960"/>
            <a:ext cx="73152" cy="155448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3" name="Text 11"/>
          <p:cNvSpPr/>
          <p:nvPr/>
        </p:nvSpPr>
        <p:spPr>
          <a:xfrm>
            <a:off x="7836408" y="1965960"/>
            <a:ext cx="3913632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“This is the top-down view you asked for: who at ERAC works this account — engagement lead, claims, actuarial, legal, finance — next to the carrier’s contacts, plus the account plan.”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635240" y="365760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AT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635240" y="3931920"/>
            <a:ext cx="41148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ERAC engagement pod by function</a:t>
            </a:r>
            <a:endParaRPr lang="en-US" sz="11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partner contacts</a:t>
            </a:r>
            <a:endParaRPr lang="en-US" sz="11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Account plan: health · objectives · next steps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2 · Work a record  ·  Scene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Cedent 360 vs TPA 360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1207008"/>
            <a:ext cx="11247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6E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 </a:t>
            </a:r>
            <a:pPr indent="0" marL="0">
              <a:buNone/>
            </a:pPr>
            <a:r>
              <a:rPr lang="en-US" sz="120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Partner Views → TPAs → Illumifin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6858000" cy="4480560"/>
          </a:xfrm>
          <a:prstGeom prst="rect">
            <a:avLst/>
          </a:prstGeom>
          <a:solidFill>
            <a:srgbClr val="F5F7FA"/>
          </a:solidFill>
          <a:ln w="19050">
            <a:solidFill>
              <a:srgbClr val="E1DFDD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457200" y="347472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📷  Screenshot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3977640"/>
            <a:ext cx="6309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Partner Views → TPAs → Illumifin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5760720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Paste the live screen capture here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635240" y="169164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635240" y="1965960"/>
            <a:ext cx="73152" cy="155448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1" name="Text 9"/>
          <p:cNvSpPr/>
          <p:nvPr/>
        </p:nvSpPr>
        <p:spPr>
          <a:xfrm>
            <a:off x="7836408" y="1965960"/>
            <a:ext cx="3913632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“Allianz was a cedent — treaties, reserves, partnership rating. Illumifin is a TPA, so the same card becomes a TPA 360: role, service rating, adjusting capacity, open claims. The record knows what it’s looking at.”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7635240" y="365760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AT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635240" y="3931920"/>
            <a:ext cx="41148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Type-aware 360 card</a:t>
            </a:r>
            <a:endParaRPr lang="en-US" sz="11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TPA: service rating, capacity, open claims</a:t>
            </a:r>
            <a:endParaRPr lang="en-US" sz="11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Hybrid carries both roles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3 · Data model  ·  Scene 6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9966960" y="292608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4CE"/>
          </a:solidFill>
          <a:ln/>
        </p:spPr>
      </p:sp>
      <p:sp>
        <p:nvSpPr>
          <p:cNvPr id="4" name="Text 2"/>
          <p:cNvSpPr/>
          <p:nvPr/>
        </p:nvSpPr>
        <p:spPr>
          <a:xfrm>
            <a:off x="9966960" y="292608"/>
            <a:ext cx="1783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352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depth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566928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Treaties · Reserve Adequacy · Partnership Ratings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457200" y="1207008"/>
            <a:ext cx="11247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6E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 </a:t>
            </a:r>
            <a:pPr indent="0" marL="0">
              <a:buNone/>
            </a:pPr>
            <a:r>
              <a:rPr lang="en-US" sz="120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Treaties  →  Reserve Adequacy  →  Partnership Ratings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6858000" cy="4480560"/>
          </a:xfrm>
          <a:prstGeom prst="rect">
            <a:avLst/>
          </a:prstGeom>
          <a:solidFill>
            <a:srgbClr val="F5F7FA"/>
          </a:solidFill>
          <a:ln w="19050">
            <a:solidFill>
              <a:srgbClr val="E1DFDD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457200" y="347472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📷  Screenshot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977640"/>
            <a:ext cx="6309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Treaties  →  Reserve Adequacy  →  Partnership Ratings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5760720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Paste the live screen capture here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635240" y="169164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SAY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635240" y="1965960"/>
            <a:ext cx="73152" cy="155448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3" name="Text 11"/>
          <p:cNvSpPr/>
          <p:nvPr/>
        </p:nvSpPr>
        <p:spPr>
          <a:xfrm>
            <a:off x="7836408" y="1965960"/>
            <a:ext cx="3913632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“These aren’t slides — they’re real tables. Treaties define what’s ceded. Reserve Adequacy is your actuarial adequacy by line of business. Partnership Ratings is the scored history that feeds the PRR.”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635240" y="365760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AT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635240" y="3931920"/>
            <a:ext cx="41148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Treaties (8) — ceded agreements</a:t>
            </a:r>
            <a:endParaRPr lang="en-US" sz="11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Reserve Adequacy (7) — % vs tolerance</a:t>
            </a:r>
            <a:endParaRPr lang="en-US" sz="11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Partnership Ratings (12) — scored history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3 · Data model  ·  Scene 7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9966960" y="292608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4CE"/>
          </a:solidFill>
          <a:ln/>
        </p:spPr>
      </p:sp>
      <p:sp>
        <p:nvSpPr>
          <p:cNvPr id="4" name="Text 2"/>
          <p:cNvSpPr/>
          <p:nvPr/>
        </p:nvSpPr>
        <p:spPr>
          <a:xfrm>
            <a:off x="9966960" y="292608"/>
            <a:ext cx="1783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352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depth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566928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 Assessments &amp; Disputes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457200" y="1207008"/>
            <a:ext cx="11247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6E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 </a:t>
            </a:r>
            <a:pPr indent="0" marL="0">
              <a:buNone/>
            </a:pPr>
            <a:r>
              <a:rPr lang="en-US" sz="120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Risk Assessments  →  Disputes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6858000" cy="4480560"/>
          </a:xfrm>
          <a:prstGeom prst="rect">
            <a:avLst/>
          </a:prstGeom>
          <a:solidFill>
            <a:srgbClr val="F5F7FA"/>
          </a:solidFill>
          <a:ln w="19050">
            <a:solidFill>
              <a:srgbClr val="E1DFDD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457200" y="347472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📷  Screenshot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977640"/>
            <a:ext cx="6309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 Assessments  →  Disputes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5760720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Paste the live screen capture here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635240" y="169164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SAY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635240" y="1965960"/>
            <a:ext cx="73152" cy="155448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3" name="Text 11"/>
          <p:cNvSpPr/>
          <p:nvPr/>
        </p:nvSpPr>
        <p:spPr>
          <a:xfrm>
            <a:off x="7836408" y="1965960"/>
            <a:ext cx="3913632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“Risk Assessments capture exposure per partner. Disputes track legal exposure — open matters, category, dollar amount — the same numbers that roll up into Legal Dispute Exposure in analytics.”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635240" y="365760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AT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635240" y="3931920"/>
            <a:ext cx="41148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 Assessments (6) — scored exposure</a:t>
            </a:r>
            <a:endParaRPr lang="en-US" sz="11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Disputes (4) — category + $ exposure</a:t>
            </a:r>
            <a:endParaRPr lang="en-US" sz="11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Feeds the analytics roll-up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4 · Work &amp; strategy  ·  Scene 8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9966960" y="292608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DFF6DD"/>
          </a:solidFill>
          <a:ln/>
        </p:spPr>
      </p:sp>
      <p:sp>
        <p:nvSpPr>
          <p:cNvPr id="4" name="Text 2"/>
          <p:cNvSpPr/>
          <p:nvPr/>
        </p:nvSpPr>
        <p:spPr>
          <a:xfrm>
            <a:off x="9966960" y="292608"/>
            <a:ext cx="1783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Short Cut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566928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Projects &amp; Strategy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457200" y="1207008"/>
            <a:ext cx="11247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6E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 </a:t>
            </a:r>
            <a:pPr indent="0" marL="0">
              <a:buNone/>
            </a:pPr>
            <a:r>
              <a:rPr lang="en-US" sz="120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Analytics → Projects &amp; Strategy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6858000" cy="4480560"/>
          </a:xfrm>
          <a:prstGeom prst="rect">
            <a:avLst/>
          </a:prstGeom>
          <a:solidFill>
            <a:srgbClr val="F5F7FA"/>
          </a:solidFill>
          <a:ln w="19050">
            <a:solidFill>
              <a:srgbClr val="E1DFDD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457200" y="347472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📷  Screenshot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977640"/>
            <a:ext cx="6309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Analytics → Projects &amp; Strategy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5760720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Paste the live screen capture here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635240" y="169164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SAY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635240" y="1965960"/>
            <a:ext cx="73152" cy="155448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3" name="Text 11"/>
          <p:cNvSpPr/>
          <p:nvPr/>
        </p:nvSpPr>
        <p:spPr>
          <a:xfrm>
            <a:off x="7836408" y="1965960"/>
            <a:ext cx="3913632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“This is the strategy view you asked about. Top: in-flight projects — Allianz Fraud Sentry, the Sagility extension, DMF, the audit pipeline. Below: your Operational Strategy plan, phased Initiating through Closing.”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635240" y="365760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AT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635240" y="3931920"/>
            <a:ext cx="41148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In-flight projects (real names)</a:t>
            </a:r>
            <a:endParaRPr lang="en-US" sz="11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Operational Strategy 2025 Kanban</a:t>
            </a:r>
            <a:endParaRPr lang="en-US" sz="11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Phased Initiating → Closing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4 · Work &amp; strategy  ·  Scene 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 Studio — “who maintains it”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1207008"/>
            <a:ext cx="11247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6E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 </a:t>
            </a:r>
            <a:pPr indent="0" marL="0">
              <a:buNone/>
            </a:pPr>
            <a:r>
              <a:rPr lang="en-US" sz="120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Analytics → Strategy Studio → UNUM → Approve → Review cadence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6858000" cy="4480560"/>
          </a:xfrm>
          <a:prstGeom prst="rect">
            <a:avLst/>
          </a:prstGeom>
          <a:solidFill>
            <a:srgbClr val="F5F7FA"/>
          </a:solidFill>
          <a:ln w="19050">
            <a:solidFill>
              <a:srgbClr val="E1DFDD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457200" y="347472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📷  Screenshot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3977640"/>
            <a:ext cx="6309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Analytics → Strategy Studio → UNUM → Approve → Review cadence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5760720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Paste the live screen capture here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635240" y="169164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635240" y="1965960"/>
            <a:ext cx="73152" cy="155448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1" name="Text 9"/>
          <p:cNvSpPr/>
          <p:nvPr/>
        </p:nvSpPr>
        <p:spPr>
          <a:xfrm>
            <a:off x="7836408" y="1965960"/>
            <a:ext cx="3913632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“This is how your team keeps strategy current without a developer. The agent drafts a strategy profile from each partner’s own data — you review and approve — then it schedules the quarterly review and nudges the owner in Teams.”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7635240" y="365760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AT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635240" y="3931920"/>
            <a:ext cx="41148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 drafts profile from partner data</a:t>
            </a:r>
            <a:endParaRPr lang="en-US" sz="11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review &amp; approve (human-in-loop)</a:t>
            </a:r>
            <a:endParaRPr lang="en-US" sz="11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Schedules quarterly review reminders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5 · Analytics &amp; integration  ·  Scene 10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9966960" y="292608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DFF6DD"/>
          </a:solidFill>
          <a:ln/>
        </p:spPr>
      </p:sp>
      <p:sp>
        <p:nvSpPr>
          <p:cNvPr id="4" name="Text 2"/>
          <p:cNvSpPr/>
          <p:nvPr/>
        </p:nvSpPr>
        <p:spPr>
          <a:xfrm>
            <a:off x="9966960" y="292608"/>
            <a:ext cx="1783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Short Cut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566928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Portfolio Analytics storyline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457200" y="1207008"/>
            <a:ext cx="11247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6E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 </a:t>
            </a:r>
            <a:pPr indent="0" marL="0">
              <a:buNone/>
            </a:pPr>
            <a:r>
              <a:rPr lang="en-US" sz="120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Analytics → Portfolio Analytics → executive band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6858000" cy="4480560"/>
          </a:xfrm>
          <a:prstGeom prst="rect">
            <a:avLst/>
          </a:prstGeom>
          <a:solidFill>
            <a:srgbClr val="F5F7FA"/>
          </a:solidFill>
          <a:ln w="19050">
            <a:solidFill>
              <a:srgbClr val="E1DFDD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457200" y="347472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📷  Screenshot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977640"/>
            <a:ext cx="6309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Analytics → Portfolio Analytics → executive band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5760720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Paste the live screen capture here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635240" y="169164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SAY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635240" y="1965960"/>
            <a:ext cx="73152" cy="155448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3" name="Text 11"/>
          <p:cNvSpPr/>
          <p:nvPr/>
        </p:nvSpPr>
        <p:spPr>
          <a:xfrm>
            <a:off x="7836408" y="1965960"/>
            <a:ext cx="3913632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“Four leadership lenses in one band: claims triage, partnership trend, actuarial reserve variance, and legal dispute exposure — operations and risk together. And these are the same treaties, ratings, and disputes we just walked through, rolled up.”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635240" y="365760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AT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635240" y="3931920"/>
            <a:ext cx="41148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Claims triage · Partnership trend (PRR)</a:t>
            </a:r>
            <a:endParaRPr lang="en-US" sz="11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Actuarial variance · Legal exposure</a:t>
            </a:r>
            <a:endParaRPr lang="en-US" sz="11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Rolls up the real records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5 · Analytics &amp; integration  ·  Scene 11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9966960" y="292608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DFF6DD"/>
          </a:solidFill>
          <a:ln/>
        </p:spPr>
      </p:sp>
      <p:sp>
        <p:nvSpPr>
          <p:cNvPr id="4" name="Text 2"/>
          <p:cNvSpPr/>
          <p:nvPr/>
        </p:nvSpPr>
        <p:spPr>
          <a:xfrm>
            <a:off x="9966960" y="292608"/>
            <a:ext cx="1783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Short Cut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566928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Know Your Policyholder (KYP)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457200" y="1207008"/>
            <a:ext cx="11247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6E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 </a:t>
            </a:r>
            <a:pPr indent="0" marL="0">
              <a:buNone/>
            </a:pPr>
            <a:r>
              <a:rPr lang="en-US" sz="120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Analytics → KYP → Policy / Open &amp; Pending Claim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6858000" cy="4480560"/>
          </a:xfrm>
          <a:prstGeom prst="rect">
            <a:avLst/>
          </a:prstGeom>
          <a:solidFill>
            <a:srgbClr val="F5F7FA"/>
          </a:solidFill>
          <a:ln w="19050">
            <a:solidFill>
              <a:srgbClr val="E1DFDD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457200" y="347472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📷  Screenshot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977640"/>
            <a:ext cx="6309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Analytics → KYP → Policy / Open &amp; Pending Claim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5760720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Paste the live screen capture here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635240" y="169164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SAY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635240" y="1965960"/>
            <a:ext cx="73152" cy="155448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3" name="Text 11"/>
          <p:cNvSpPr/>
          <p:nvPr/>
        </p:nvSpPr>
        <p:spPr>
          <a:xfrm>
            <a:off x="7836408" y="1965960"/>
            <a:ext cx="3913632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“This is your own Know Your Policyholder dashboard, surfaced in the app — 192K policies across ERAC and UFLIC, drillable by Legal Entity, Block, Sub Block, TPA, Cedent, Cohort. Your team never leaves the app to get the report.”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635240" y="365760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AT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635240" y="3931920"/>
            <a:ext cx="41148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192K policies · ERAC + UFLIC</a:t>
            </a:r>
            <a:endParaRPr lang="en-US" sz="11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Drill: Entity/Block/TPA/Cedent/Cohort</a:t>
            </a:r>
            <a:endParaRPr lang="en-US" sz="11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Production data from Fabric / LTC Core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5 · Analytics &amp; integration  ·  Scene 12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9966960" y="292608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4CE"/>
          </a:solidFill>
          <a:ln/>
        </p:spPr>
      </p:sp>
      <p:sp>
        <p:nvSpPr>
          <p:cNvPr id="4" name="Text 2"/>
          <p:cNvSpPr/>
          <p:nvPr/>
        </p:nvSpPr>
        <p:spPr>
          <a:xfrm>
            <a:off x="9966960" y="292608"/>
            <a:ext cx="1783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352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depth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566928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Partnership &amp; Risk drill-down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457200" y="1207008"/>
            <a:ext cx="11247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6E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 </a:t>
            </a:r>
            <a:pPr indent="0" marL="0">
              <a:buNone/>
            </a:pPr>
            <a:r>
              <a:rPr lang="en-US" sz="120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Analytics → Partnership &amp; Risk → Overall → LTC → Allianz → toggle Risk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6858000" cy="4480560"/>
          </a:xfrm>
          <a:prstGeom prst="rect">
            <a:avLst/>
          </a:prstGeom>
          <a:solidFill>
            <a:srgbClr val="F5F7FA"/>
          </a:solidFill>
          <a:ln w="19050">
            <a:solidFill>
              <a:srgbClr val="E1DFDD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457200" y="347472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📷  Screenshot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977640"/>
            <a:ext cx="6309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Analytics → Partnership &amp; Risk → Overall → LTC → Allianz → toggle Risk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5760720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Paste the live screen capture here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635240" y="169164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SAY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635240" y="1965960"/>
            <a:ext cx="73152" cy="155448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3" name="Text 11"/>
          <p:cNvSpPr/>
          <p:nvPr/>
        </p:nvSpPr>
        <p:spPr>
          <a:xfrm>
            <a:off x="7836408" y="1965960"/>
            <a:ext cx="3913632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“Assess partnerships top-down: start with all partners, drill by line of business, then into a single carrier. Same pattern for risk — one toggle. Sensitive commentary is gated by security role.”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635240" y="365760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AT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635240" y="3931920"/>
            <a:ext cx="41148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Top-down drill by LOB → partner</a:t>
            </a:r>
            <a:endParaRPr lang="en-US" sz="11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Partnership / Risk toggle</a:t>
            </a:r>
            <a:endParaRPr lang="en-US" sz="11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RLS-gated sensitive commentary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5 · Analytics &amp; integration  ·  Scene 13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9966960" y="292608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DFF6DD"/>
          </a:solidFill>
          <a:ln/>
        </p:spPr>
      </p:sp>
      <p:sp>
        <p:nvSpPr>
          <p:cNvPr id="4" name="Text 2"/>
          <p:cNvSpPr/>
          <p:nvPr/>
        </p:nvSpPr>
        <p:spPr>
          <a:xfrm>
            <a:off x="9966960" y="292608"/>
            <a:ext cx="1783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Short Cut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566928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External Systems, Help &amp; close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457200" y="1207008"/>
            <a:ext cx="11247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6E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 </a:t>
            </a:r>
            <a:pPr indent="0" marL="0">
              <a:buNone/>
            </a:pPr>
            <a:r>
              <a:rPr lang="en-US" sz="120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Cedents &amp; Contacts → External Systems  ·  Help &amp; Resources → Help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6858000" cy="4480560"/>
          </a:xfrm>
          <a:prstGeom prst="rect">
            <a:avLst/>
          </a:prstGeom>
          <a:solidFill>
            <a:srgbClr val="F5F7FA"/>
          </a:solidFill>
          <a:ln w="19050">
            <a:solidFill>
              <a:srgbClr val="E1DFDD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457200" y="347472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📷  Screenshot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977640"/>
            <a:ext cx="6309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Cedents &amp; Contacts → External Systems  ·  Help &amp; Resources → Help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5760720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Paste the live screen capture here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635240" y="169164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SAY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635240" y="1965960"/>
            <a:ext cx="73152" cy="155448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3" name="Text 11"/>
          <p:cNvSpPr/>
          <p:nvPr/>
        </p:nvSpPr>
        <p:spPr>
          <a:xfrm>
            <a:off x="7836408" y="1965960"/>
            <a:ext cx="3913632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“You don’t rip and replace — we link out to where work lives: IronClad, MIRO, SharePoint, Business Objects, Standard Work, Claims Gold Standard, SLA evaluation, the Power BI workspace. One workspace, every system a click away.”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635240" y="365760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AT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635240" y="3931920"/>
            <a:ext cx="41148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system link-outs (nav + on record)</a:t>
            </a:r>
            <a:endParaRPr lang="en-US" sz="11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Built-in Help / cheat sheet</a:t>
            </a:r>
            <a:endParaRPr lang="en-US" sz="11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Connectors into Fabric &amp; LTC Core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heard you — your feedback, now live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6492240"/>
                <a:gridCol w="45720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You asked for…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Now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Counterparties renamed to Partners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Live — nav, views &amp; screens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Valid contacts on every account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Live — all 11, with a primary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“Who at ERAC works this account”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Live — Account Map &amp; Plan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real Power BI report (KYP)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Live — its own destination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External Systems easy to find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Live — left-nav + on record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Cedent/TPA clarity · analytics · nav icons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Live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2860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trusted model. One workspace.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3200400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D6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structure, your partners, your treaties and risk, your work in flight, and your own analytics — for the whole team.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40080" y="42062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would make this indispensable for your team?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58368" y="4937760"/>
            <a:ext cx="2926080" cy="54864"/>
          </a:xfrm>
          <a:prstGeom prst="rect">
            <a:avLst/>
          </a:prstGeom>
          <a:solidFill>
            <a:srgbClr val="0078D4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 ERAC — ERAC Lite CRM Walkthrough</dc:title>
  <dc:subject>PptxGenJS Presentation</dc:subject>
  <dc:creator>Microsoft Solution Engineering</dc:creator>
  <cp:lastModifiedBy>Microsoft Solution Engineering</cp:lastModifiedBy>
  <cp:revision>1</cp:revision>
  <dcterms:created xsi:type="dcterms:W3CDTF">2026-06-12T17:20:41Z</dcterms:created>
  <dcterms:modified xsi:type="dcterms:W3CDTF">2026-06-12T17:20:41Z</dcterms:modified>
</cp:coreProperties>
</file>